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5" r:id="rId10"/>
    <p:sldId id="267" r:id="rId11"/>
    <p:sldId id="264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06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Costmap Aggregation: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Distribution Shift in Object-Relative Visual Navigation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Kewei Liu · Zihang Zhou · Zihao Long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github.com/6chHenry/object-rel-nav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ObjectReact conditions a local navigation controller on a per-frame WayObject Costmap instead of raw RGB, giving strong cross-embodiment generalization.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is feed-forward and trained by behavior cloning, so it inherits imitation learning's classic failure: 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costmap is recomputed every frame from segmentation and matching. A single 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frame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policy toward a wrong waypoint, with no temporal signal for recovery.</a:t>
            </a:r>
          </a:p>
          <a:p>
            <a:pPr>
              <a:spcAft>
                <a:spcPts val="800"/>
              </a:spcAft>
              <a:buSzPct val="100000"/>
            </a:pPr>
            <a:endParaRPr lang="en-US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insight: a short window of consecutive costmaps carries redundant spatial cues and a smooth temporal trend (like a driver who briefly loses sight of a sign relying on the recent past).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can a lightweight temporal-memory module recover robustness, and is a confidence-gated aggregator needed beyond plain temporal memory?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Background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569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Object-relative navigation: RoboHop -&gt; TANGO -&gt; ObjectReact. All operate on single-frame observations. ObjectReact is the baseline we extend.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 &amp; distribution shift: behavior cloning compounds errors off-distribution. Remedies include DAgger and history-conditioned recurrent policies.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modeling in navigation: GNM / ViNT fuse a short RGB history; ObjectReact dropped this for its goal encoder.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we target: no prior work applies a temporal aggregator, let alone a confidence-gated one, to an object-relative costmap representation.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767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Approach: Temporal Aggregator</a:t>
            </a:r>
            <a:endParaRPr lang="en-US" sz="3000" dirty="0"/>
          </a:p>
        </p:txBody>
      </p:sp>
      <p:pic>
        <p:nvPicPr>
          <p:cNvPr id="3" name="Image 0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998551"/>
            <a:ext cx="10058400" cy="4123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encoder φ and waypoint head g (warm-started from the public checkpoint); insert aggregator 𝒜 over a sliding window of K frame embeddings: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/>
              <p:nvPr/>
            </p:nvSpPr>
            <p:spPr>
              <a:xfrm>
                <a:off x="640080" y="6080760"/>
                <a:ext cx="110642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), 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6080760"/>
                <a:ext cx="11064240" cy="457200"/>
              </a:xfrm>
              <a:prstGeom prst="rect">
                <a:avLst/>
              </a:prstGeom>
              <a:blipFill>
                <a:blip r:embed="rId4"/>
                <a:stretch>
                  <a:fillRect l="-551" b="-12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Learned Aggregators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Plain GRU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GRU (hidden 1024) over the window; take the last hidden state.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822960" y="1874520"/>
                <a:ext cx="10515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GRU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74520"/>
                <a:ext cx="10515600" cy="457200"/>
              </a:xfrm>
              <a:prstGeom prst="rect">
                <a:avLst/>
              </a:prstGeom>
              <a:blipFill>
                <a:blip r:embed="rId3"/>
                <a:stretch>
                  <a:fillRect l="-5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548640" y="2423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Cosine-confidence-gated GRU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5234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confidence from cosine similarity to an intra-window EMA; blend before the GRU. Adds only 2 scalar parameters.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822960" y="3154680"/>
                <a:ext cx="10515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 · 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ba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154680"/>
                <a:ext cx="10515600" cy="457200"/>
              </a:xfrm>
              <a:prstGeom prst="rect">
                <a:avLst/>
              </a:prstGeom>
              <a:blipFill>
                <a:blip r:embed="rId4"/>
                <a:stretch>
                  <a:fillRect l="-5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851621" y="3154680"/>
                <a:ext cx="371591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+ (1 −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) 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ba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621" y="3154680"/>
                <a:ext cx="3715910" cy="457200"/>
              </a:xfrm>
              <a:prstGeom prst="rect">
                <a:avLst/>
              </a:prstGeom>
              <a:blipFill>
                <a:blip r:embed="rId5"/>
                <a:stretch>
                  <a:fillRect l="-16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Reliability-gated GRU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268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mixing, but αⱼ comes from a learned 2-layer MLP over per-channel disagreement signals (diff, product, cos, norm-ratio). Adds ~0.52M parameters.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822960" y="5349240"/>
                <a:ext cx="10515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([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;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ba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;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;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;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;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]))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5349240"/>
                <a:ext cx="10515600" cy="457200"/>
              </a:xfrm>
              <a:prstGeom prst="rect">
                <a:avLst/>
              </a:prstGeom>
              <a:blipFill>
                <a:blip r:embed="rId6"/>
                <a:stretch>
                  <a:fillRect l="-580" b="-13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A0D6488C-21E4-39E6-E31E-0C2E3FC84A02}"/>
                  </a:ext>
                </a:extLst>
              </p:cNvPr>
              <p:cNvSpPr/>
              <p:nvPr/>
            </p:nvSpPr>
            <p:spPr>
              <a:xfrm>
                <a:off x="822960" y="3648456"/>
                <a:ext cx="10515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GRU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A0D6488C-21E4-39E6-E31E-0C2E3FC84A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648456"/>
                <a:ext cx="10515600" cy="457200"/>
              </a:xfrm>
              <a:prstGeom prst="rect">
                <a:avLst/>
              </a:prstGeom>
              <a:blipFill>
                <a:blip r:embed="rId7"/>
                <a:stretch>
                  <a:fillRect l="-5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HM3D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InstanceImageNav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Habitat-Sim, with ground-truth topometric.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tasks: Imitate, Alt-Goal, Shortcut, Reverse (33 / 23 / 26 / 30 effective episodes).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Success Rate (SR), SPL, Soft-SPL. Single full evaluation protocol for every run.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a 2x2 study of training corruption probability (0.0 or 0.2) crossed with inference corruption probability (0.0 or 0.2).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corruption: the current costmap is replaced by a zero map with probability 0.2. Within each cell, all architectures share initialization, data, seed, window, and protocol.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Avg SPL over the Four Tasks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3880" y="4075042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training corruption, reliability gating is weakest and collapses (36.6 -&gt; 24.5).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matched training corruption, the three clean averages nearly tie (60.6 - 61.4 SPL).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inference corruption, the reliability-gated GRU is strongest at 60.16 SPL.</a:t>
            </a:r>
            <a:endParaRPr lang="en-US" sz="17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D6F7D1-0F64-09F6-DF52-DDCCD6CA5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03" y="1270533"/>
            <a:ext cx="10305023" cy="24881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Clean -&gt; Noisy SPL Loss (matched training)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91263" y="3403537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over the four tasks; higher Δ is better (closer to 0 = more robust).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4108174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Reliability-gated GRU loses only 0.46 SPL under corruption and even gains +1.93 Soft-SPL; cosine gating loses 6.44.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60.2 Avg SPL under corruption: 1.36 above the matched Plain GRU and 5.25 above the matched cosine-gated GRU.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corruption alone lifts the reliability-gated GRU from 24.5 to 60.2 noisy SPL; the benefit is specific to this jointly-trained architecture, not a generic augmentation effect.</a:t>
            </a:r>
            <a:endParaRPr lang="en-US" sz="17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173982-82A4-2E10-634A-98EE80F54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9" y="1051560"/>
            <a:ext cx="9383495" cy="22428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Qualitative Rollouts (inference noise 0.2)</a:t>
            </a:r>
            <a:endParaRPr lang="en-US" sz="3000" dirty="0"/>
          </a:p>
        </p:txBody>
      </p:sp>
      <p:pic>
        <p:nvPicPr>
          <p:cNvPr id="3" name="Image 0" descr="matched_rollouts_contact_sheet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5852160" cy="43747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66560" y="3876261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task, the selected episode is one where reliability gating succeeds and Plain GRU fails.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GRU hits the 300-step limit in all four; the reliability model reaches within ~1 m.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illustrate the recovery mode, not population frequency.</a:t>
            </a:r>
            <a:endParaRPr 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D7342D-6D11-46F9-BDF1-3A237B99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34579"/>
            <a:ext cx="5596257" cy="1895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lt_goal_yr17PDCnDDW_0000000_plant_32_matched">
            <a:hlinkClick r:id="" action="ppaction://media"/>
            <a:extLst>
              <a:ext uri="{FF2B5EF4-FFF2-40B4-BE49-F238E27FC236}">
                <a16:creationId xmlns:a16="http://schemas.microsoft.com/office/drawing/2014/main" id="{CDF09DFA-3845-F167-0471-5BA06327ED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352892"/>
            <a:ext cx="5692399" cy="5087125"/>
          </a:xfrm>
          <a:prstGeom prst="rect">
            <a:avLst/>
          </a:prstGeom>
        </p:spPr>
      </p:pic>
      <p:pic>
        <p:nvPicPr>
          <p:cNvPr id="3" name="shortcut_bxsVRursffK_0000000_toilet_27_matched">
            <a:hlinkClick r:id="" action="ppaction://media"/>
            <a:extLst>
              <a:ext uri="{FF2B5EF4-FFF2-40B4-BE49-F238E27FC236}">
                <a16:creationId xmlns:a16="http://schemas.microsoft.com/office/drawing/2014/main" id="{A62B19DF-13EC-64F2-8528-92163872237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29739" y="352892"/>
            <a:ext cx="6341341" cy="48154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0B7DC17-F68F-1BC0-7681-E42769AB1A46}"/>
              </a:ext>
            </a:extLst>
          </p:cNvPr>
          <p:cNvSpPr txBox="1"/>
          <p:nvPr/>
        </p:nvSpPr>
        <p:spPr>
          <a:xfrm>
            <a:off x="2288786" y="562554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Alt-Goal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8FB72D-6748-3561-301D-FB4BB0C0994B}"/>
              </a:ext>
            </a:extLst>
          </p:cNvPr>
          <p:cNvSpPr txBox="1"/>
          <p:nvPr/>
        </p:nvSpPr>
        <p:spPr>
          <a:xfrm>
            <a:off x="8378251" y="5625548"/>
            <a:ext cx="1198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Shortcut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416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Gate Detect Corrupted Frames?</a:t>
            </a:r>
            <a:endParaRPr lang="en-US" sz="3000" dirty="0"/>
          </a:p>
        </p:txBody>
      </p:sp>
      <p:pic>
        <p:nvPicPr>
          <p:cNvPr id="3" name="Image 0" descr="gate_roc_pr_curve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8" y="3209129"/>
            <a:ext cx="7553739" cy="2919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6712" y="15316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Corruption-detection score: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/>
              <p:nvPr/>
            </p:nvSpPr>
            <p:spPr>
              <a:xfrm>
                <a:off x="8965096" y="2023110"/>
                <a:ext cx="125233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1 −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096" y="2023110"/>
                <a:ext cx="1252330" cy="457200"/>
              </a:xfrm>
              <a:prstGeom prst="rect">
                <a:avLst/>
              </a:prstGeom>
              <a:blipFill>
                <a:blip r:embed="rId4"/>
                <a:stretch>
                  <a:fillRect l="-68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3"/>
          <p:cNvSpPr/>
          <p:nvPr/>
        </p:nvSpPr>
        <p:spPr>
          <a:xfrm>
            <a:off x="7680297" y="2526528"/>
            <a:ext cx="4434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ROC-AUC = 0.312 (below 0.5, i.e. worse than chance).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 semantics: injected frames get mean α = 0.9984 vs 0.9880 on clean frames.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NOT a calibrated failure detector. The navigation gain is a behavioral property of the jointly-trained recurrence.</a:t>
            </a:r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corruption supervision or a calibration loss is needed before α can be read as reliability.</a:t>
            </a:r>
            <a:endParaRPr 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43549BE-4BA0-897F-FFFB-297F01633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8" y="1391586"/>
            <a:ext cx="6568440" cy="13716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01680F-99AA-3070-05B2-B2A7B8189A6E}"/>
                  </a:ext>
                </a:extLst>
              </p:cNvPr>
              <p:cNvSpPr txBox="1"/>
              <p:nvPr/>
            </p:nvSpPr>
            <p:spPr>
              <a:xfrm>
                <a:off x="6356074" y="660929"/>
                <a:ext cx="6271590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 + (1 − 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) 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bar>
                        </m:e>
                        <m:sub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18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C01680F-99AA-3070-05B2-B2A7B8189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074" y="660929"/>
                <a:ext cx="6271590" cy="391646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Directions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Corruption-trained reliability-gated recurrence is the strongest, most stable model under inference noise: 60.2 SPL with only a 0.46-point loss.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matched rollouts confirm recovery cases across all tasks.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supported conclusion is behavioral; explicit supervision is needed to make the gate itself reliable and explainable.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46999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012759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Inferred-perception evaluation: replace ground-truth segmentation with FastSAM + LightGlue.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seeds and a sweep over inference-noise levels.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gate supervision: add a corruption-classification or calibration objective so low alpha has a real reliability meaning.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B86D8B-F19B-20E5-A208-F52ED948BDFA}"/>
              </a:ext>
            </a:extLst>
          </p:cNvPr>
          <p:cNvSpPr txBox="1"/>
          <p:nvPr/>
        </p:nvSpPr>
        <p:spPr>
          <a:xfrm>
            <a:off x="3529947" y="2659559"/>
            <a:ext cx="47429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dirty="0"/>
              <a:t>Thanks for Listening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1600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D45C0C-CD96-451D-A734-570EE733DC4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fad0497-02e5-4a47-83c8-b0ab32dd022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967</Words>
  <Application>Microsoft Office PowerPoint</Application>
  <PresentationFormat>宽屏</PresentationFormat>
  <Paragraphs>82</Paragraphs>
  <Slides>13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Zihao Long</cp:lastModifiedBy>
  <cp:revision>24</cp:revision>
  <dcterms:created xsi:type="dcterms:W3CDTF">2026-06-13T11:23:16Z</dcterms:created>
  <dcterms:modified xsi:type="dcterms:W3CDTF">2026-06-16T05:46:09Z</dcterms:modified>
</cp:coreProperties>
</file>